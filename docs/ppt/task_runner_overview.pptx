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77724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FB3C8"/>
                </a:solidFill>
                <a:latin typeface="Calibri"/>
                <a:ea typeface="Microsoft YaHei"/>
              </a:rPr>
              <a:t>CplushMultiThread · C++17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task_runner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FD7E4"/>
                </a:solidFill>
                <a:latin typeface="Calibri"/>
                <a:ea typeface="Microsoft YaHei"/>
              </a:rPr>
              <a:t>可执行 / 可停止任务框架 —— 业务只填内容，编排交给框架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08960"/>
            <a:ext cx="10874959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</a:rPr>
              <a:t>▪ 仅头文件（4 个 .hpp，652 行）· 零第三方依赖（标准库 + pthread）· C++17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</a:rPr>
              <a:t>▪ mac / Linux 已验证；拷一个目录即可移植到任何项目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</a:rPr>
              <a:t>▪ 52 项测试全绿（含 9 项压测）· TSan 扫描 0 数据竞争 · 5 个可运行示例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074920"/>
            <a:ext cx="10874959" cy="685800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Calibri"/>
                <a:ea typeface="Microsoft YaHei"/>
              </a:rPr>
              <a:t>面向「界面有『执行』『停止』两个按钮、任务耗时、需要进度与结果」这类场景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为什么需要它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一句话价值：把「线程那点事」一次性做对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254599" cy="1600200"/>
          </a:xfrm>
          <a:prstGeom prst="roundRect">
            <a:avLst>
              <a:gd name="adj" fmla="val 6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8C2F39"/>
                </a:solidFill>
                <a:latin typeface="Calibri"/>
                <a:ea typeface="Microsoft YaHei"/>
              </a:rPr>
              <a:t>问题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8C2F39"/>
                </a:solidFill>
                <a:latin typeface="Calibri"/>
                <a:ea typeface="Microsoft YaHei"/>
              </a:rPr>
              <a:t>一个「执行 / 停止」按钮背后，藏着 6 类并发问题，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C2F39"/>
                </a:solidFill>
                <a:latin typeface="Calibri"/>
                <a:ea typeface="Microsoft YaHei"/>
              </a:rPr>
              <a:t>每做一个新任务都要重新踩一遍。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417320"/>
            <a:ext cx="5254599" cy="1600200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B7F5A"/>
                </a:solidFill>
                <a:latin typeface="Calibri"/>
                <a:ea typeface="Microsoft YaHei"/>
              </a:rPr>
              <a:t>方案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B7F5A"/>
                </a:solidFill>
                <a:latin typeface="Calibri"/>
                <a:ea typeface="Microsoft YaHei"/>
              </a:rPr>
              <a:t>把这 6 类问题收敛成一个可复用框架，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7F5A"/>
                </a:solidFill>
                <a:latin typeface="Calibri"/>
                <a:ea typeface="Microsoft YaHei"/>
              </a:rPr>
              <a:t>业务代码里只剩下业务。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83280"/>
            <a:ext cx="3442106" cy="16002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584448"/>
            <a:ext cx="344210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  <a:ea typeface="Microsoft YaHei"/>
              </a:rPr>
              <a:t>652 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Microsoft YaHei"/>
              </a:rPr>
              <a:t>仅头文件，4 个 .hpp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4794" y="3383280"/>
            <a:ext cx="3442106" cy="16002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4794" y="3584448"/>
            <a:ext cx="344210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  <a:ea typeface="Microsoft YaHei"/>
              </a:rPr>
              <a:t>52 / 52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Microsoft YaHei"/>
              </a:rPr>
              <a:t>测试全绿（含 9 项压测）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1220" y="3383280"/>
            <a:ext cx="3442106" cy="16002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1220" y="3584448"/>
            <a:ext cx="344210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  <a:ea typeface="Microsoft YaHei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Microsoft YaHei"/>
              </a:rPr>
              <a:t>TSan 数据竞争报告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25780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Calibri"/>
                <a:ea typeface="Microsoft YaHei"/>
              </a:rPr>
              <a:t>业务侧代码量：一个可中断、带进度、带收尾的同步任务 ≈ 15 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手写一遍，要处理这 6 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17320"/>
          <a:ext cx="10874958" cy="3255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9983"/>
                <a:gridCol w="6524975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坑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后果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忘记 join 线程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析构时 std::terminate / 崩溃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停止标志裸读写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数据竞争，未定义行为（TSan 必报）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在任务线程里调 stop()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join 自身 → 死锁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用户连点两次「执行」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两个线程跑同一个任务对象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业务抛异常逃出线程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std::terminate，进程直接挂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任务自己跑完了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没人知道 → 后处理漏掉，或只能轮询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5486400"/>
            <a:ext cx="10874959" cy="548640"/>
          </a:xfrm>
          <a:prstGeom prst="roundRect">
            <a:avLst>
              <a:gd name="adj" fmla="val 6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2F39"/>
                </a:solidFill>
                <a:latin typeface="Calibri"/>
                <a:ea typeface="Microsoft YaHei"/>
              </a:rPr>
              <a:t>这些不是业务逻辑，是每个任务都要重复写一遍的「样板 + 陷阱」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总体设计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方案：三层结构，业务只碰最上面一层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874959" cy="96012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  <a:ea typeface="Microsoft YaHei"/>
              </a:rPr>
              <a:t>业务层   </a:t>
            </a:r>
            <a:r>
              <a:rPr sz="1450" b="0" i="0">
                <a:solidFill>
                  <a:srgbClr val="1A1A1A"/>
                </a:solidFill>
                <a:latin typeface="Calibri"/>
                <a:ea typeface="Microsoft YaHei"/>
              </a:rPr>
              <a:t>继承 runnable_task，只实现 run()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  <a:ea typeface="Microsoft YaHei"/>
              </a:rPr>
              <a:t>        可选：on_tick() 推状态、on_finished() 收尾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32888"/>
            <a:ext cx="10874959" cy="960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324F"/>
                </a:solidFill>
                <a:latin typeface="Calibri"/>
                <a:ea typeface="Microsoft YaHei"/>
              </a:rPr>
              <a:t>框架层   </a:t>
            </a:r>
            <a:r>
              <a:rPr sz="1450" b="0" i="0">
                <a:solidFill>
                  <a:srgbClr val="1A1A1A"/>
                </a:solidFill>
                <a:latin typeface="Calibri"/>
                <a:ea typeface="Microsoft YaHei"/>
              </a:rPr>
              <a:t>task_controller —— 状态机 + 线程编排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  <a:ea typeface="Microsoft YaHei"/>
              </a:rPr>
              <a:t>        防重入 · 错误码 · 异常兜底 · 结果判定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48456"/>
            <a:ext cx="10874959" cy="960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324F"/>
                </a:solidFill>
                <a:latin typeface="Calibri"/>
                <a:ea typeface="Microsoft YaHei"/>
              </a:rPr>
              <a:t>工具层   </a:t>
            </a:r>
            <a:r>
              <a:rPr sz="1450" b="0" i="0">
                <a:solidFill>
                  <a:srgbClr val="1A1A1A"/>
                </a:solidFill>
                <a:latin typeface="Calibri"/>
                <a:ea typeface="Microsoft YaHei"/>
              </a:rPr>
              <a:t>stop_control / stop_token、periodic_publisher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  <a:ea typeface="Microsoft YaHei"/>
              </a:rPr>
              <a:t>        可脱离控制器独立复用（心跳上报 / 跨线程取消）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07492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324F"/>
                </a:solidFill>
                <a:latin typeface="Calibri"/>
                <a:ea typeface="Microsoft YaHei"/>
              </a:rPr>
              <a:t>核心承诺：业务代码里不出现 std::thread、mutex、join  ——  这些全部在框架层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模块设计 · 组件职责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四个组件，职责一眼看清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17320"/>
          <a:ext cx="10874957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8739"/>
                <a:gridCol w="2718739"/>
                <a:gridCol w="5437479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组件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头文件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职责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stop_control / stop_token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stop_token.hpp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协作式停止源与只读视图（可触发的 / 只能感知的）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periodic_publisher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periodic_publisher.hpp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通用周期回调执行器，自带线程，可独立复用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runnable_task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runnable_task.hpp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业务接口：run() + 可选 on_tick() / on_finished()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task_controller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task_controller.hpp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编排器：状态机 + 线程 + 防重入 + 错误码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4160520"/>
            <a:ext cx="10874959" cy="5486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0"/>
                </a:solidFill>
                <a:latin typeface="Calibri"/>
                <a:ea typeface="Microsoft YaHei"/>
              </a:rPr>
              <a:t>业务通常只需 #include "task_runner/task_controller.hpp"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模块设计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模块划分：四个头文件，依赖单向无环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554480" y="14173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EAF3F4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24F"/>
                </a:solidFill>
                <a:latin typeface="Calibri"/>
                <a:ea typeface="Microsoft YaHei"/>
              </a:rPr>
              <a:t>task_controller.hpp</a:t>
            </a:r>
            <a:r>
              <a:rPr sz="950" b="0" i="0">
                <a:solidFill>
                  <a:srgbClr val="6B7280"/>
                </a:solidFill>
                <a:latin typeface="Calibri"/>
                <a:ea typeface="Microsoft YaHei"/>
              </a:rPr>
              <a:t>  361 行 · 编排器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24F"/>
                </a:solidFill>
                <a:latin typeface="Calibri"/>
                <a:ea typeface="Microsoft YaHei"/>
              </a:rPr>
              <a:t>periodic_publisher.hpp</a:t>
            </a:r>
            <a:r>
              <a:rPr sz="950" b="0" i="0">
                <a:solidFill>
                  <a:srgbClr val="6B7280"/>
                </a:solidFill>
                <a:latin typeface="Calibri"/>
                <a:ea typeface="Microsoft YaHei"/>
              </a:rPr>
              <a:t>  118 行 · 周期回调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2514600"/>
            <a:ext cx="2788920" cy="71323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24F"/>
                </a:solidFill>
                <a:latin typeface="Calibri"/>
                <a:ea typeface="Microsoft YaHei"/>
              </a:rPr>
              <a:t>runnable_task.hpp</a:t>
            </a:r>
            <a:r>
              <a:rPr sz="950" b="0" i="0">
                <a:solidFill>
                  <a:srgbClr val="6B7280"/>
                </a:solidFill>
                <a:latin typeface="Calibri"/>
                <a:ea typeface="Microsoft YaHei"/>
              </a:rPr>
              <a:t>  80 行 · 业务接口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703320"/>
            <a:ext cx="3200400" cy="603504"/>
          </a:xfrm>
          <a:prstGeom prst="roundRect">
            <a:avLst>
              <a:gd name="adj" fmla="val 10000"/>
            </a:avLst>
          </a:prstGeom>
          <a:solidFill>
            <a:srgbClr val="EAF3F4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E7C86"/>
                </a:solidFill>
                <a:latin typeface="Calibri"/>
                <a:ea typeface="Microsoft YaHei"/>
              </a:rPr>
              <a:t>stop_token.hpp</a:t>
            </a:r>
            <a:r>
              <a:rPr sz="950" b="0" i="0">
                <a:solidFill>
                  <a:srgbClr val="6B7280"/>
                </a:solidFill>
                <a:latin typeface="Calibri"/>
                <a:ea typeface="Microsoft YaHei"/>
              </a:rPr>
              <a:t>  93 行 · 停止源 / 只读视图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29968" y="1965960"/>
            <a:ext cx="0" cy="521208"/>
          </a:xfrm>
          <a:prstGeom prst="line">
            <a:avLst/>
          </a:prstGeom>
          <a:ln w="17780">
            <a:solidFill>
              <a:srgbClr val="1632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93208" y="1965960"/>
            <a:ext cx="0" cy="521208"/>
          </a:xfrm>
          <a:prstGeom prst="line">
            <a:avLst/>
          </a:prstGeom>
          <a:ln w="17780">
            <a:solidFill>
              <a:srgbClr val="1632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29968" y="3227832"/>
            <a:ext cx="941832" cy="457200"/>
          </a:xfrm>
          <a:prstGeom prst="line">
            <a:avLst/>
          </a:prstGeom>
          <a:ln w="1778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160520" y="3227832"/>
            <a:ext cx="932688" cy="457200"/>
          </a:xfrm>
          <a:prstGeom prst="line">
            <a:avLst/>
          </a:prstGeom>
          <a:ln w="1778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17520" y="323697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7C86"/>
                </a:solidFill>
                <a:latin typeface="Calibri"/>
                <a:ea typeface="Microsoft YaHei"/>
              </a:rPr>
              <a:t>都依赖它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417320"/>
            <a:ext cx="44741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Calibri"/>
                <a:ea typeface="Microsoft YaHei"/>
              </a:rPr>
              <a:t>各文件职责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059168" y="1828800"/>
          <a:ext cx="4474158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8312"/>
                <a:gridCol w="2855846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头文件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职责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task_controller.hpp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状态机 + 线程编排 + 防重入 + 结果判定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periodic_publisher.hpp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固定周期回调执行器（自带线程，可独立复用）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runnable_task.hpp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业务接口 + task_mode / error_code / run_result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stop_token.hpp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协作式停止源 stop_control + 只读视图 stop_token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58368" y="4617720"/>
            <a:ext cx="5111230" cy="777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Microsoft YaHei"/>
              </a:rPr>
              <a:t>依赖单向、无环 —— 想只用「周期回调」可以只拷 periodic_publisher.hpp + stop_token.hpp，不必带上编排器。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5630" y="4617720"/>
            <a:ext cx="5507696" cy="777240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324F"/>
                </a:solidFill>
                <a:latin typeface="Calibri"/>
                <a:ea typeface="Microsoft YaHei"/>
              </a:rPr>
              <a:t>runnable_task 不反向依赖 controller —— 业务接口不会被编排器「污染」，换掉控制器实现业务代码不用动。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模块设计 ② · 框架图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类关系：run_phase 是唯一的资源所有者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4572000" cy="31089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task_controller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36776"/>
            <a:ext cx="4572000" cy="1636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- mutex_ : mutex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- task_ : shared_ptr&lt;runnable_task&gt;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- phase_ : shared_ptr&lt;run_phase&gt;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  <a:ea typeface="Microsoft YaHei"/>
              </a:rPr>
              <a:t>+ start() : error_code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  <a:ea typeface="Microsoft YaHei"/>
              </a:rPr>
              <a:t>+ stop(on_stopped) : error_code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  <a:ea typeface="Microsoft YaHei"/>
              </a:rPr>
              <a:t>+ running() / last_run_result()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  <a:ea typeface="Microsoft YaHei"/>
              </a:rPr>
              <a:t>+ run_exception() / tick_exception()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  <a:ea typeface="Microsoft YaHei"/>
              </a:rPr>
              <a:t>+ finish_exception()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63140"/>
            <a:ext cx="4572000" cy="952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0" y="1325880"/>
            <a:ext cx="5864047" cy="3108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BD9E0"/>
                </a:solidFill>
                <a:latin typeface="Calibri"/>
                <a:ea typeface="Microsoft YaHei"/>
              </a:rPr>
              <a:t>«interface» </a:t>
            </a: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runnable_task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636776"/>
            <a:ext cx="5864047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  <a:ea typeface="Microsoft YaHei"/>
              </a:rPr>
              <a:t>+ run(stop_token) =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  <a:ea typeface="Microsoft YaHei"/>
              </a:rPr>
              <a:t>+ async_completion() : shared_future&lt;void&gt;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  <a:ea typeface="Microsoft YaHei"/>
              </a:rPr>
              <a:t>+ on_tick()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  <a:ea typeface="Microsoft YaHei"/>
              </a:rPr>
              <a:t>+ on_finished(run_result, exception_ptr)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493008"/>
            <a:ext cx="4572000" cy="31089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task_controller::run_phase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803904"/>
            <a:ext cx="45720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- control : shared_ptr&lt;stop_control&gt;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- task : shared_ptr&lt;runnable_task&gt;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- worker : thread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- publisher : unique_ptr&lt;periodic_publisher&gt;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- result / run_exc / tick_exc / finish_exc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  <a:ea typeface="Microsoft YaHei"/>
              </a:rPr>
              <a:t>+ run_body(ph) / finalize(ph, exc)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805172"/>
            <a:ext cx="4572000" cy="952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303520"/>
            <a:ext cx="2651760" cy="310896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Microsoft YaHei"/>
              </a:rPr>
              <a:t>periodic_publisher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614416"/>
            <a:ext cx="2651760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  <a:ea typeface="Microsoft YaHei"/>
              </a:rPr>
              <a:t>- thread_ / active_ / period_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  <a:ea typeface="Microsoft YaHei"/>
              </a:rPr>
              <a:t>+ start(token) / stop()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  <a:ea typeface="Microsoft YaHei"/>
              </a:rPr>
              <a:t>+ thread_id() / tick_exception()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865876"/>
            <a:ext cx="2651760" cy="952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5303520"/>
            <a:ext cx="2926080" cy="3108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Microsoft YaHei"/>
              </a:rPr>
              <a:t>stop_control / stop_token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5614416"/>
            <a:ext cx="29260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  <a:ea typeface="Microsoft YaHei"/>
              </a:rPr>
              <a:t>+ create() / request_stop() / wake_all() / token()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Calibri"/>
                <a:ea typeface="Microsoft YaHei"/>
              </a:rPr>
              <a:t>+ stop_requested() / wait_for(ms)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44368" y="3273552"/>
            <a:ext cx="0" cy="201168"/>
          </a:xfrm>
          <a:prstGeom prst="line">
            <a:avLst/>
          </a:prstGeom>
          <a:ln w="17780">
            <a:solidFill>
              <a:srgbClr val="1632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mond 18"/>
          <p:cNvSpPr/>
          <p:nvPr/>
        </p:nvSpPr>
        <p:spPr>
          <a:xfrm>
            <a:off x="2880360" y="3319272"/>
            <a:ext cx="128016" cy="128016"/>
          </a:xfrm>
          <a:prstGeom prst="diamond">
            <a:avLst/>
          </a:prstGeom>
          <a:solidFill>
            <a:srgbClr val="16324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230368" y="1828800"/>
            <a:ext cx="420624" cy="0"/>
          </a:xfrm>
          <a:prstGeom prst="line">
            <a:avLst/>
          </a:prstGeom>
          <a:ln w="17780">
            <a:solidFill>
              <a:srgbClr val="0E7C8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984248" y="5065776"/>
            <a:ext cx="0" cy="219456"/>
          </a:xfrm>
          <a:prstGeom prst="line">
            <a:avLst/>
          </a:prstGeom>
          <a:ln w="17780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1920240" y="5120640"/>
            <a:ext cx="128016" cy="128016"/>
          </a:xfrm>
          <a:prstGeom prst="diamond">
            <a:avLst/>
          </a:prstGeom>
          <a:solidFill>
            <a:srgbClr val="374151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206240" y="5065776"/>
            <a:ext cx="0" cy="219456"/>
          </a:xfrm>
          <a:prstGeom prst="line">
            <a:avLst/>
          </a:prstGeom>
          <a:ln w="1778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4142232" y="5120640"/>
            <a:ext cx="128016" cy="12801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310128" y="5486400"/>
            <a:ext cx="237744" cy="0"/>
          </a:xfrm>
          <a:prstGeom prst="line">
            <a:avLst/>
          </a:prstGeom>
          <a:ln w="17780">
            <a:solidFill>
              <a:srgbClr val="0E7C8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0" y="3291840"/>
            <a:ext cx="4675327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  <a:ea typeface="Microsoft YaHei"/>
              </a:rPr>
              <a:t>▪ run_phase 是唯一持有资源的地方：停止源、worker 线程、发布器、结果都在它里面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Microsoft YaHei"/>
              </a:rPr>
              <a:t>▪ task_controller 不直接管线程 —— 它只管「当前是哪一轮 phase」和状态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Microsoft YaHei"/>
              </a:rPr>
              <a:t>▪ 每轮 start() 新建一个 run_phase，旧的整体替换，join 全在 phase 内部完成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Microsoft YaHei"/>
              </a:rPr>
              <a:t>▪ periodic_publisher 只拿到 stop_token（只读）—— 它无法主动停任何人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5303520"/>
            <a:ext cx="4675327" cy="457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■ 复合：拥有生命周期　□ 聚合：shared_ptr 共享　┄ 持有 / 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模块设计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状态机与关键时序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1280160" cy="54864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24F"/>
                </a:solidFill>
                <a:latin typeface="Calibri"/>
                <a:ea typeface="Microsoft YaHei"/>
              </a:rPr>
              <a:t>idle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95728" y="1371600"/>
            <a:ext cx="1371600" cy="54864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86"/>
                </a:solidFill>
                <a:latin typeface="Calibri"/>
                <a:ea typeface="Microsoft YaHei"/>
              </a:rPr>
              <a:t>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1371600"/>
            <a:ext cx="1371600" cy="54864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24F"/>
                </a:solidFill>
                <a:latin typeface="Calibri"/>
                <a:ea typeface="Microsoft YaHei"/>
              </a:rPr>
              <a:t>stopping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56816" y="1645920"/>
            <a:ext cx="420624" cy="0"/>
          </a:xfrm>
          <a:prstGeom prst="line">
            <a:avLst/>
          </a:prstGeom>
          <a:ln w="1778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85616" y="1645920"/>
            <a:ext cx="420624" cy="0"/>
          </a:xfrm>
          <a:prstGeom prst="line">
            <a:avLst/>
          </a:prstGeom>
          <a:ln w="17780">
            <a:solidFill>
              <a:srgbClr val="1632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53896" y="195681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7C86"/>
                </a:solidFill>
                <a:latin typeface="Calibri"/>
                <a:ea typeface="Microsoft YaHei"/>
              </a:rPr>
              <a:t>start() → 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195681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24F"/>
                </a:solidFill>
                <a:latin typeface="Calibri"/>
                <a:ea typeface="Microsoft YaHei"/>
              </a:rPr>
              <a:t>stop(cb)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67528" y="1920240"/>
            <a:ext cx="0" cy="457200"/>
          </a:xfrm>
          <a:prstGeom prst="line">
            <a:avLst/>
          </a:prstGeom>
          <a:ln w="1778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98448" y="2377440"/>
            <a:ext cx="4069080" cy="0"/>
          </a:xfrm>
          <a:prstGeom prst="line">
            <a:avLst/>
          </a:prstGeom>
          <a:ln w="1778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98448" y="1938528"/>
            <a:ext cx="0" cy="438912"/>
          </a:xfrm>
          <a:prstGeom prst="line">
            <a:avLst/>
          </a:prstGeom>
          <a:ln w="1778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21408" y="241401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  <a:ea typeface="Microsoft YaHei"/>
              </a:rPr>
              <a:t>join 完成 / 自然完成 → idle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58368" y="2788920"/>
          <a:ext cx="5376670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8675"/>
                <a:gridCol w="1832956"/>
                <a:gridCol w="977576"/>
                <a:gridCol w="1527463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从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事件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到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返回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idle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start()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running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ok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running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start()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running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already_running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running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stop(cb)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stopping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ok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running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run() 返回 / 抛异常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idle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completed / failed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stopping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start() / stop()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stopping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already_stopping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stopping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worker join 完成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idle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ok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67728" y="1417320"/>
            <a:ext cx="4565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F"/>
                </a:solidFill>
                <a:latin typeface="Calibri"/>
                <a:ea typeface="Microsoft YaHei"/>
              </a:rPr>
              <a:t>start() / stop() 时序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67728" y="1783080"/>
            <a:ext cx="4565599" cy="288036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start()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锁内: 校验 state -&gt; 建 run_phase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      -&gt; spawn worker + publisher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      -&gt; state = running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worker: task-&gt;run(token)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        [async 再 wait 完成句柄]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stop(cb)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state = stopping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request_stop() + wake_all()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worker.join()          &lt;- 等任务真正停下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  worker 收尾: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    result = first-wins(failed|stopped|completed)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    publisher.stop()   &lt;- join 发布器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    on_finished(result, run_exc)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    state = idle       &lt;- 收尾最后一步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EBF0"/>
                </a:solidFill>
                <a:latin typeface="Consolas"/>
                <a:ea typeface="Consolas"/>
              </a:rPr>
              <a:t>  调 cb()                &lt;- on_stopped，调用者线程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303520"/>
            <a:ext cx="10874959" cy="685800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324F"/>
                </a:solidFill>
                <a:latin typeface="Calibri"/>
                <a:ea typeface="Microsoft YaHei"/>
              </a:rPr>
              <a:t>不变式：running() == false  蕴含「收尾已完成」—— on_finished 已返回、发布器已 join。这是把「置 idle」放到收尾最后一步的直接结果，调用方可以放心用它判断结束。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核心优势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优势 ①  业务只填 run()，编排全部托管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7993094" cy="338328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class compress_job : public runnable_task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public: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   void run(stop_token token) override {      // ★ 业务只写这里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       for (int i = 0; i &lt; total_; ++i)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           if (token.stop_requested()) break; // 感知停止（可选）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           compress_one(i);                   // 你的耗时内容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           token.wait_for(10ms);              // 睡眠 + 可被停止唤醒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           done_ = i + 1;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       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   void on_tick() override { report(done_.load()); }   // 每 1s 推进度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   void on_finished(run_result r, std::exception_ptr e) override { finish(r, e); 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};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auto job = std::make_shared&lt;compress_job&gt;();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task_controller ctl(job, task_mode::sync, 1s);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ctl.start();                            // 起 worker + 周期发布器，不阻塞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ctl.stop([]{ /* 停止后处理 */ });       // 阻塞：等真正停止 → 后处理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7494" y="1508760"/>
            <a:ext cx="2625832" cy="20116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6324F"/>
                </a:solidFill>
                <a:latin typeface="Calibri"/>
                <a:ea typeface="Microsoft YaHei"/>
              </a:rPr>
              <a:t>框架替你做的：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6324F"/>
                </a:solidFill>
                <a:latin typeface="Calibri"/>
                <a:ea typeface="Microsoft YaHei"/>
              </a:rPr>
              <a:t>· 创建 / 回收线程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6324F"/>
                </a:solidFill>
                <a:latin typeface="Calibri"/>
                <a:ea typeface="Microsoft YaHei"/>
              </a:rPr>
              <a:t>· 状态机与重入保护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6324F"/>
                </a:solidFill>
                <a:latin typeface="Calibri"/>
                <a:ea typeface="Microsoft YaHei"/>
              </a:rPr>
              <a:t>· 结果判定与错误码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6324F"/>
                </a:solidFill>
                <a:latin typeface="Calibri"/>
                <a:ea typeface="Microsoft YaHei"/>
              </a:rPr>
              <a:t>· 异常兜底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F"/>
                </a:solidFill>
                <a:latin typeface="Calibri"/>
                <a:ea typeface="Microsoft YaHei"/>
              </a:rPr>
              <a:t>· 跨轮次 join 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7494" y="3794760"/>
            <a:ext cx="2625832" cy="1097280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86"/>
                </a:solidFill>
                <a:latin typeface="Calibri"/>
                <a:ea typeface="Microsoft YaHei"/>
              </a:rPr>
              <a:t>同步 / 异步只差一个参数：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86"/>
                </a:solidFill>
                <a:latin typeface="Calibri"/>
                <a:ea typeface="Microsoft YaHei"/>
              </a:rPr>
              <a:t>task_mode::sync / async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029200"/>
            <a:ext cx="10874959" cy="731520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324F"/>
                </a:solidFill>
                <a:latin typeface="Calibri"/>
                <a:ea typeface="Microsoft YaHei"/>
              </a:rPr>
              <a:t>清单里的 6 类并发陷阱 —— 忘记 join · 停止标志竞态 · 停止时 join 自身 · 任务抛异常逃出线程 · 重入 · 完成漏报 —— 框架全包了。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可预期性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优势 ②  结果与错误码：每个分支都有明确语义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5254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Calibri"/>
                <a:ea typeface="Microsoft YaHei"/>
              </a:rPr>
              <a:t>运行结果 run_result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801368"/>
          <a:ext cx="5254599" cy="208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1533"/>
                <a:gridCol w="3503066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取值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含义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completed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正常跑完（无人停止）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stopped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运行期间收到停止请求后结束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failed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run() / 业务异步抛异常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none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没跑过 / 还没结束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7" y="1417320"/>
            <a:ext cx="5254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Calibri"/>
                <a:ea typeface="Microsoft YaHei"/>
              </a:rPr>
              <a:t>错误码 error_code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7.5" y="1801368"/>
          <a:ext cx="5254598" cy="2706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1839"/>
                <a:gridCol w="3152759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取值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触发场景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ok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成功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already_running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正在运行，禁止重入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already_stopping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正在停止，禁止重入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not_running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对空闲任务调 stop()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self_stop_denied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在控制器自身线程内调 start/stop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resource_error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线程创建失败（可重试）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532120"/>
            <a:ext cx="10874959" cy="621792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324F"/>
                </a:solidFill>
                <a:latin typeface="Calibri"/>
                <a:ea typeface="Microsoft YaHei"/>
              </a:rPr>
              <a:t>调用方不需要猜：start() 返回 already_running 就是「已在运行」，stop() 返回 not_running 就是「任务已自己结束」—— 都不是异常，是明确的状态答案。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对界面友好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优势 ③  两个回调，正好覆盖 UI 的两大诉求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17320"/>
          <a:ext cx="10874958" cy="1499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1843"/>
                <a:gridCol w="4385064"/>
                <a:gridCol w="3508051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回调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触发方式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典型用途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on_tick()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每 tick_period（默认 1s）在独立线程调用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进度条、状态文字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on_finished(result, error)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任务结束时调用一次，三种结果都触发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上传结果 / 清理资源 / 通知界面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1089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Calibri"/>
                <a:ea typeface="Microsoft YaHei"/>
              </a:rPr>
              <a:t>可以直接依赖的三条时序保证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20440"/>
            <a:ext cx="10874959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</a:rPr>
              <a:t>▪ on_finished 在「自然完成」时也会触发 —— 没人调 stop()、任务自己跑完，照样回调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▪ stop() 返回时 on_finished 保证已执行完毕，且先于 on_stopped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▪ running() 返回 false 蕴含 on_finished 已返回 —— 轮询判结束不会与回调竞争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34924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  <a:ea typeface="Microsoft YaHei"/>
              </a:rPr>
              <a:t>对比：只用 on_stopped 时，「任务自己跑完」这条路径没有任何回调，调用方只能轮询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健壮性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优势 ④  线程模型：杜绝跨轮次竞态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6B7280"/>
                </a:solidFill>
                <a:latin typeface="Calibri"/>
                <a:ea typeface="Microsoft YaHei"/>
              </a:rPr>
              <a:t>run_phase #1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  <a:ea typeface="Microsoft YaHei"/>
              </a:rPr>
              <a:t>· stop_control（本轮停止源）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  <a:ea typeface="Microsoft YaHei"/>
              </a:rPr>
              <a:t>· worker 线程（跑 run()）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  <a:ea typeface="Microsoft YaHei"/>
              </a:rPr>
              <a:t>· periodic_publisher 线程（跑 on_tick）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Calibri"/>
                <a:ea typeface="Microsoft YaHei"/>
              </a:rPr>
              <a:t>run_phase #2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  <a:ea typeface="Microsoft YaHei"/>
              </a:rPr>
              <a:t>· stop_control（本轮停止源）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  <a:ea typeface="Microsoft YaHei"/>
              </a:rPr>
              <a:t>· worker 线程（跑 run()）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  <a:ea typeface="Microsoft YaHei"/>
              </a:rPr>
              <a:t>· periodic_publisher 线程（跑 on_tick）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73168" y="1920240"/>
            <a:ext cx="1828800" cy="1005840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E7C86"/>
                </a:solidFill>
                <a:latin typeface="Calibri"/>
                <a:ea typeface="Microsoft YaHei"/>
              </a:rPr>
              <a:t>start()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7C86"/>
                </a:solidFill>
                <a:latin typeface="Calibri"/>
                <a:ea typeface="Microsoft YaHei"/>
              </a:rPr>
              <a:t>新建 + 整体替换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2008" y="1737360"/>
            <a:ext cx="4611319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  <a:ea typeface="Microsoft YaHei"/>
              </a:rPr>
              <a:t>▪ 每次 start() 创建一个全新的 run_phase（新停止源 + 新 worker + 新发布器）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Microsoft YaHei"/>
              </a:rPr>
              <a:t>▪ 旧 phase 整体替换；任何 join 都发生在 phase 内部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Microsoft YaHei"/>
              </a:rPr>
              <a:t>▪ 杜绝：跨轮次双重 join、成员写竞态、上一轮过期 token 干扰新一轮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Microsoft YaHei"/>
              </a:rPr>
              <a:t>▪ 同一控制器可反复 start / stop 复用，每轮结果独立（first-wins）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21208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  <a:ea typeface="Microsoft YaHei"/>
              </a:rPr>
              <a:t>同一控制器同一时刻只有一个运行实例；要并发跑多个任务 → 用多个控制器 + 各自的任务实例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安全生产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优势 ⑤  异常不逃逸，误用被明确挡住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5254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Calibri"/>
                <a:ea typeface="Microsoft YaHei"/>
              </a:rPr>
              <a:t>异常一律被捕获，不会 terminate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801368"/>
          <a:ext cx="5254598" cy="2231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1839"/>
                <a:gridCol w="3152759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谁抛异常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框架处理 / 你能拿到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run() / 业务异步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run_result=failed + run_exception()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on_tick()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tick_exception()，run 不中断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on_finished()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finish_exception()，不影响结果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on_stopped()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记日志，不影响返回值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7" y="1417320"/>
            <a:ext cx="5254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Calibri"/>
                <a:ea typeface="Microsoft YaHei"/>
              </a:rPr>
              <a:t>重入与自调用：返回错误码，而不是死锁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7.5" y="1801368"/>
          <a:ext cx="5254598" cy="2231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52759"/>
                <a:gridCol w="2101839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场景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返回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运行中再 start()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already_running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停止中再 start() / stop()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already_stopping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对空闲任务 stop()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not_running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控制器自身线程内调 start/stop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self_stop_denied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53212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F"/>
                </a:solidFill>
                <a:latin typeface="Calibri"/>
                <a:ea typeface="Microsoft YaHei"/>
              </a:rPr>
              <a:t>设计取向：把「会变成死锁 / 崩溃 / UB 的误用」转成「有明确返回值的状态」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集成成本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优势 ⑥  仅头文件 · 零依赖 · 一个目录即可移植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231739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477453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  <a:ea typeface="Microsoft YaHei"/>
              </a:rPr>
              <a:t>仅头文件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  <a:ea typeface="Microsoft YaHei"/>
              </a:rPr>
              <a:t>4 个 .hpp，共 652 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  <a:ea typeface="Microsoft YaHei"/>
              </a:rPr>
              <a:t>拷贝 src/include/task_runner/ 即可用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417320"/>
            <a:ext cx="5231739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7619" y="1636776"/>
            <a:ext cx="477453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Calibri"/>
                <a:ea typeface="Microsoft YaHei"/>
              </a:rPr>
              <a:t>零第三方依赖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  <a:ea typeface="Microsoft YaHei"/>
              </a:rPr>
              <a:t>只用标准库 + pthread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  <a:ea typeface="Microsoft YaHei"/>
              </a:rPr>
              <a:t>C++17，无 boost / 无框架依赖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63240"/>
            <a:ext cx="5231739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82696"/>
            <a:ext cx="477453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6324F"/>
                </a:solidFill>
                <a:latin typeface="Calibri"/>
                <a:ea typeface="Microsoft YaHei"/>
              </a:rPr>
              <a:t>两条命令接入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  <a:ea typeface="Microsoft YaHei"/>
              </a:rPr>
              <a:t>target_include_directories + pthread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  <a:ea typeface="Microsoft YaHei"/>
              </a:rPr>
              <a:t>或直接搬 INTERFACE 库定义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1587" y="3063240"/>
            <a:ext cx="5231739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7619" y="3282696"/>
            <a:ext cx="477453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6324F"/>
                </a:solidFill>
                <a:latin typeface="Calibri"/>
                <a:ea typeface="Microsoft YaHei"/>
              </a:rPr>
              <a:t>平台已验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  <a:ea typeface="Microsoft YaHei"/>
              </a:rPr>
              <a:t>mac（AppleClang）与 Linux 均已构建通过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  <a:ea typeface="Microsoft YaHei"/>
              </a:rPr>
              <a:t>并跑完测试与 TSan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434840"/>
            <a:ext cx="10874959" cy="141732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# 方式 A：直接用本仓的 INTERFACE 目标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target_link_libraries(your_target PRIVATE task_runner)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# 方式 B：不用 CMake 目标，手工加路径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target_include_directories(your_target PRIVATE path/to/include)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target_link_libraries(your_target PRIVATE pthread)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925312"/>
            <a:ext cx="10874959" cy="411480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E7C86"/>
                </a:solidFill>
                <a:latin typeface="Calibri"/>
                <a:ea typeface="Microsoft YaHei"/>
              </a:rPr>
              <a:t>两个工具（periodic_publisher / stop_control）可脱离 task_controller 单独使用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examples/sync_task.cpp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用例 ①  执行 / 停止按钮（最常见场景）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874959" cy="210312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auto job = std::make_shared&lt;compress_job&gt;();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task_controller ctl(job, task_mode::sync, 1s);   // 装配一次，长期持有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// 「执行」按钮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if (ctl.start() != error_code::ok) show("任务已在运行");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// 「停止」按钮：stop() 是阻塞调用 → 放到独立线程，别卡界面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BF0"/>
                </a:solidFill>
                <a:latin typeface="Consolas"/>
                <a:ea typeface="Consolas"/>
              </a:rPr>
              <a:t>std::thread([&amp;]{ ctl.stop([]{ show("已停止"); }); }).detach();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118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F"/>
                </a:solidFill>
                <a:latin typeface="Calibri"/>
                <a:ea typeface="Microsoft YaHei"/>
              </a:rPr>
              <a:t>实际运行输出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023360"/>
            <a:ext cx="10874959" cy="201168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start(): ok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start() again: already_running        &lt;- 防重入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[sync] tick: 3/20                   &lt;- on_tick 周期推进度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[sync] stop requested at file 5/20  &lt;- 业务感知停止，及时退出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[sync] on_finished: stopped         &lt;- 先于 on_stopped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[sync] on_stopped: post-processing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stop(): ok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last_run_result: stopped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stop() when idle: not_running         &lt;- 任务已结束，不是错误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examples/async_task.cpp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用例 ②  异步任务：两种完成句柄来源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52774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7C86"/>
                </a:solidFill>
                <a:latin typeface="Calibri"/>
                <a:ea typeface="Microsoft YaHei"/>
              </a:rPr>
              <a:t>来源 ① 内部线程跑阻塞内容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01368"/>
            <a:ext cx="5277459" cy="233172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void run(stop_token token) override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fut_ = std::async(std::launch::async,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  [this, token]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    while (!token.stop_requested())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      fetch_chunk();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      token.wait_for(120ms);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    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  }).share();       // run() 立即返回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std::shared_future&lt;void&gt;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async_completion() const override { return fut_;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5867" y="1417320"/>
            <a:ext cx="52774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7C86"/>
                </a:solidFill>
                <a:latin typeface="Calibri"/>
                <a:ea typeface="Microsoft YaHei"/>
              </a:rPr>
              <a:t>来源 ② 真·事件驱动（第三方回调）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801368"/>
            <a:ext cx="5277459" cy="233172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void run(stop_token token) override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stopper_ = token;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start_sdk_chain([this]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done_promise_.set_value();   // 业务链完成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});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std::shared_future&lt;void&gt;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async_completion() const override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return done_promise_.get_future().share();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389120"/>
            <a:ext cx="10874959" cy="1143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  <a:ea typeface="Microsoft YaHei"/>
              </a:rPr>
              <a:t>框架 wait 完成句柄来判定「真正完成」，不是轮询；期间 on_tick 照常发进度。  注意：业务链必须最终置值，否则 stop() 会一直等（协作式语义）。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examples/progress_and_finish.cpp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用例 ③  进度发布 + 任务结束收尾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874959" cy="260604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void on_tick() override {                     // 独立线程，每 1s 一次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  const int d = done_.load();               // 共享状态必须原子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  ui_post([d]{ progress_bar-&gt;set(d); });    // 投递到 UI 线程，别在这里碰控件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void on_finished(run_result r, std::exception_ptr e) override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  switch (r) {                              // 三种结果都走这里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      case run_result::completed: notify_ui_success();    break;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      case run_result::stopped:   notify_ui_cancelled();  break;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      case run_result::failed:    report_ui_error(e);     break;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      case run_result::none:      break;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EBF0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F"/>
                </a:solidFill>
                <a:latin typeface="Calibri"/>
                <a:ea typeface="Microsoft YaHei"/>
              </a:rPr>
              <a:t>实际运行输出（自然完成，全程无人调 stop()）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80560"/>
            <a:ext cx="10874959" cy="182880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[part 1] natural completion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[report] progress 23/40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[report] progress 39/40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[report] finished: completed            &lt;- 自己跑完也回调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running()==false, on_finished count = 1   &lt;- 不变式成立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[part 2] run() throws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last_run_result: failed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run_exception(): disk full                &lt;- 异常被捕获，进程不挂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examples/multi_task.cpp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用例 ④  多任务并发 / 全局互斥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52774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7C86"/>
                </a:solidFill>
                <a:latin typeface="Calibri"/>
                <a:ea typeface="Microsoft YaHei"/>
              </a:rPr>
              <a:t>要并发 → 多个控制器 + 各自实例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77459" cy="164592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auto job_a = std::make_shared&lt;download_job&gt;("A", 10);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auto job_b = std::make_shared&lt;download_job&gt;("B", 6);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task_controller ctl_a(job_a, ...);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task_controller ctl_b(job_b, ...);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ctl_a.start();   // 互不影响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ctl_b.start();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5867" y="1417320"/>
            <a:ext cx="52774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7C86"/>
                </a:solidFill>
                <a:latin typeface="Calibri"/>
                <a:ea typeface="Microsoft YaHei"/>
              </a:rPr>
              <a:t>要全局只跑一个 → 单控制器多轮复用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737360"/>
            <a:ext cx="5277459" cy="164592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task_controller ctl(std::make_shared&lt;download_job&gt;(...));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for (int round = 0; round &lt; 3; ++round)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ctl.start();     // 返回值本身就是互斥的答案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ctl.stop();      // 之后还能再 start()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// 不需要额外的锁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20440"/>
            <a:ext cx="10874959" cy="731520"/>
          </a:xfrm>
          <a:prstGeom prst="roundRect">
            <a:avLst>
              <a:gd name="adj" fmla="val 6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C2F39"/>
                </a:solidFill>
                <a:latin typeface="Calibri"/>
                <a:ea typeface="Microsoft YaHei"/>
              </a:rPr>
              <a:t>提醒：框架的防重入是「控制器」粒度的。把同一个 task 对象交给两个控制器，框架拦不住 —— 那是业务侧数据竞争（详见 docs/task-runner-reentrancy.md）。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8912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F"/>
                </a:solidFill>
                <a:latin typeface="Calibri"/>
                <a:ea typeface="Microsoft YaHei"/>
              </a:rPr>
              <a:t>实际运行输出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754880"/>
            <a:ext cx="10874959" cy="118872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start A: ok, start B: ok  &lt;- 互不影响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[B] on_finished: completed  done=6/6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[A] on_finished: stopped  done=7/10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round 0 start(): ok   round 0 stop(): ok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round 1 start(): ok   round 1 stop(): ok   &lt;- 复用同一控制器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examples/reusable_components.cpp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用例 ⑤  不要控制器：两个工具单独用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52774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7C86"/>
                </a:solidFill>
                <a:latin typeface="Calibri"/>
                <a:ea typeface="Microsoft YaHei"/>
              </a:rPr>
              <a:t>周期回调（如每 30s 上报心跳）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01368"/>
            <a:ext cx="5277459" cy="196596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auto ctrl = stop_control::create();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periodic_publisher pub(30s, []{ send_heartbeat(); });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pub.start(ctrl-&gt;token());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// ...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ctrl-&gt;request_stop();   // 或 pub.stop()，任一都能停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pub.stop();             // 退出并 join（幂等）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5867" y="1417320"/>
            <a:ext cx="52774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7C86"/>
                </a:solidFill>
                <a:latin typeface="Calibri"/>
                <a:ea typeface="Microsoft YaHei"/>
              </a:rPr>
              <a:t>跨线程协作式取消标记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801368"/>
            <a:ext cx="5277459" cy="196596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auto ctrl = stop_control::create();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auto tok  = ctrl-&gt;token();       // 只读视图，发给工作线程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std::thread worker([tok]{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while (!tok.stop_requested()) 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    tok.wait_for(100ms);     // 睡眠 + 可被唤醒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    do_step();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});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ctrl-&gt;request_stop();  worker.join();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3192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F"/>
                </a:solidFill>
                <a:latin typeface="Calibri"/>
                <a:ea typeface="Microsoft YaHei"/>
              </a:rPr>
              <a:t>实际运行输出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97680"/>
            <a:ext cx="10874959" cy="123444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[publisher] heartbeat #1 / #2 / #3     &lt;- 每 300ms 一次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stop:  ok                              &lt;- 幂等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request_stop(): first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request_stop() again: already          &lt;- 幂等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BF0"/>
                </a:solidFill>
                <a:latin typeface="Consolas"/>
                <a:ea typeface="Consolas"/>
              </a:rPr>
              <a:t>worker stopped after 3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623560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24F"/>
                </a:solidFill>
                <a:latin typeface="Calibri"/>
                <a:ea typeface="Microsoft YaHei"/>
              </a:rPr>
              <a:t>stop_control 可触发停止、stop_token 只能感知 —— 把这个区分做进类型系统，比到处传裸 atomic&lt;bool&gt; 更安全。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可信度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工程质量：不是 demo，是可交付的框架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2512999" cy="12801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25129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  <a:ea typeface="Microsoft YaHei"/>
              </a:rPr>
              <a:t>52 / 52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Microsoft YaHei"/>
              </a:rPr>
              <a:t>测试全绿（含 9 项压测）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5687" y="1371600"/>
            <a:ext cx="2512999" cy="12801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5687" y="1572768"/>
            <a:ext cx="25129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  <a:ea typeface="Microsoft YaHei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Microsoft YaHei"/>
              </a:rPr>
              <a:t>TSan 数据竞争报告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371600"/>
            <a:ext cx="2512999" cy="12801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1572768"/>
            <a:ext cx="25129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  <a:ea typeface="Microsoft YaHei"/>
              </a:rPr>
              <a:t>38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Microsoft YaHei"/>
              </a:rPr>
              <a:t>场景矩阵用例（SC-01~38）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0327" y="1371600"/>
            <a:ext cx="2512999" cy="12801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0327" y="1572768"/>
            <a:ext cx="25129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E7C86"/>
                </a:solidFill>
                <a:latin typeface="Calibri"/>
                <a:ea typeface="Microsoft YaHei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Microsoft YaHei"/>
              </a:rPr>
              <a:t>可运行示例程序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8892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Calibri"/>
                <a:ea typeface="Microsoft YaHei"/>
              </a:rPr>
              <a:t>测试与验证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27248"/>
            <a:ext cx="10874959" cy="3182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  <a:ea typeface="Microsoft YaHei"/>
              </a:rPr>
              <a:t>▪ 单元 / 压测：TaskController 30 项 · Stress 11 项 · StopToken 6 项 · Publisher 6 项 · Smoke 1 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  <a:ea typeface="Microsoft YaHei"/>
              </a:rPr>
              <a:t>▪ 覆盖：状态机 · 防重入 · 协作停止 · 自然完成 · 异常 · 周期发布 · 析构 · 异步完成句柄 · 多轮复用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  <a:ea typeface="Microsoft YaHei"/>
              </a:rPr>
              <a:t>▪ ThreadSanitizer：全部用例 + 示例 + 主程序 0 报告（ENABLE_TSAN 一键开启，附抑制文件）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1148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Calibri"/>
                <a:ea typeface="Microsoft YaHei"/>
              </a:rPr>
              <a:t>文档与示例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58368" y="4462272"/>
          <a:ext cx="10874958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60696"/>
                <a:gridCol w="6214262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文档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91440" marR="91440" marT="27432" marB="27432" anchor="ctr">
                    <a:solidFill>
                      <a:srgbClr val="16324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docs/task-runner-usage-guide.md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按场景索引的使用指南（13 个场景 + 排查清单）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src/include/task_runner/README.md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按组件索引的 API 参考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docs/task-runner-reentrancy.md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任务级防重入的需求分型与业务侧实现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  <a:ea typeface="Microsoft YaHei"/>
                        </a:rPr>
                        <a:t>docs/data_race_detection.md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74151"/>
                          </a:solidFill>
                          <a:latin typeface="Calibri"/>
                          <a:ea typeface="Microsoft YaHei"/>
                        </a:rPr>
                        <a:t>多线程竞争检测（TSan / Clang 注解）</a:t>
                      </a:r>
                    </a:p>
                  </a:txBody>
                  <a:tcPr marL="91440" marR="91440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86"/>
                </a:solidFill>
                <a:latin typeface="Calibri"/>
                <a:ea typeface="Microsoft YaHei"/>
              </a:rPr>
              <a:t>怎么用起来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  <a:ea typeface="Microsoft YaHei"/>
              </a:rPr>
              <a:t>上手三步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874959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36776"/>
            <a:ext cx="713232" cy="71323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01368"/>
            <a:ext cx="713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1618488"/>
            <a:ext cx="94119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324F"/>
                </a:solidFill>
                <a:latin typeface="Calibri"/>
                <a:ea typeface="Microsoft YaHei"/>
              </a:rPr>
              <a:t>接入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74151"/>
                </a:solidFill>
                <a:latin typeface="Calibri"/>
                <a:ea typeface="Microsoft YaHei"/>
              </a:rPr>
              <a:t>拷贝 src/include/task_runner/ 一个目录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74151"/>
                </a:solidFill>
                <a:latin typeface="Calibri"/>
                <a:ea typeface="Microsoft YaHei"/>
              </a:rPr>
              <a:t>链接 pthread，C++17 编译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15768"/>
            <a:ext cx="10874959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935224"/>
            <a:ext cx="713232" cy="71323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099816"/>
            <a:ext cx="713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2916936"/>
            <a:ext cx="94119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324F"/>
                </a:solidFill>
                <a:latin typeface="Calibri"/>
                <a:ea typeface="Microsoft YaHei"/>
              </a:rPr>
              <a:t>实现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74151"/>
                </a:solidFill>
                <a:latin typeface="Calibri"/>
                <a:ea typeface="Microsoft YaHei"/>
              </a:rPr>
              <a:t>继承 runnable_task，填 run()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74151"/>
                </a:solidFill>
                <a:latin typeface="Calibri"/>
                <a:ea typeface="Microsoft YaHei"/>
              </a:rPr>
              <a:t>需要进度 / 收尾就加 on_tick / on_finished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14216"/>
            <a:ext cx="10874959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4233672"/>
            <a:ext cx="713232" cy="71323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398264"/>
            <a:ext cx="713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4215384"/>
            <a:ext cx="94119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324F"/>
                </a:solidFill>
                <a:latin typeface="Calibri"/>
                <a:ea typeface="Microsoft YaHei"/>
              </a:rPr>
              <a:t>驱动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74151"/>
                </a:solidFill>
                <a:latin typeface="Calibri"/>
                <a:ea typeface="Microsoft YaHei"/>
              </a:rPr>
              <a:t>task_controller ctl(job, task_mode::sync, 1s);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74151"/>
                </a:solidFill>
                <a:latin typeface="Calibri"/>
                <a:ea typeface="Microsoft YaHei"/>
              </a:rPr>
              <a:t>ctl.start();  ...  ctl.stop(callback);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349240"/>
            <a:ext cx="10874959" cy="621792"/>
          </a:xfrm>
          <a:prstGeom prst="roundRect">
            <a:avLst>
              <a:gd name="adj" fmla="val 6000"/>
            </a:avLst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F"/>
                </a:solidFill>
                <a:latin typeface="Calibri"/>
                <a:ea typeface="Microsoft YaHei"/>
              </a:rPr>
              <a:t>看例子最快：examples/ 下 5 个可运行程序（每个聚焦一个场景），对照 docs/task-runner-usage-guide.md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</a:rPr>
              <a:t>业务只填内容，编排交给框架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FD7E4"/>
                </a:solidFill>
                <a:latin typeface="Calibri"/>
                <a:ea typeface="Microsoft YaHei"/>
              </a:rPr>
              <a:t>652 行头文件，替业务挡掉 6 类并发陷阱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23160"/>
            <a:ext cx="10874959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  <a:ea typeface="Microsoft YaHei"/>
              </a:rPr>
              <a:t>▪ 省代码：一个可中断、带进度、带收尾的任务 ≈ 15 行业务代码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  <a:ea typeface="Microsoft YaHei"/>
              </a:rPr>
              <a:t>▪ 少踩坑：join / 竞态 / 死锁 / 重入 / 异常逃逸 / 完成漏报，全部在框架内解决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  <a:ea typeface="Microsoft YaHei"/>
              </a:rPr>
              <a:t>▪ 可预期：三态结果 + 分级错误码 + 明确时序保证（running()==false ⟹ 回调已返回）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  <a:ea typeface="Microsoft YaHei"/>
              </a:rPr>
              <a:t>▪ 易集成：仅头文件、零第三方依赖，拷一个目录即用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  <a:ea typeface="Microsoft YaHei"/>
              </a:rPr>
              <a:t>▪ 有背书：52 项测试全绿 · TSan 0 竞争 · 5 个示例 · 完整文档链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806440"/>
            <a:ext cx="10874959" cy="5486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  <a:ea typeface="Microsoft YaHei"/>
              </a:rPr>
              <a:t>仓库内可直接运行：./build/CplushMultiThread   |   ./build/examples/sync_task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task_runner · 可执行 / 可停止任务框架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